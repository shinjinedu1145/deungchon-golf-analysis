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8543" y="365760"/>
            <a:ext cx="73152" cy="2286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72239" y="365760"/>
            <a:ext cx="73152" cy="13716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1">
                <a:solidFill>
                  <a:srgbClr val="FBBF24"/>
                </a:solidFill>
                <a:latin typeface="Malgun Gothic"/>
              </a:rPr>
              <a:t>경영진 투자 검토 보고서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algun Gothic"/>
              </a:rPr>
              <a:t>등촌골프연습장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CADCFC"/>
                </a:solidFill>
                <a:latin typeface="Malgun Gothic"/>
              </a:rPr>
              <a:t>사업성 분석 — 5개년·10개년 재무 전망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2560320" cy="1280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383280"/>
            <a:ext cx="73152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478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Malgun Gothic"/>
              </a:rPr>
              <a:t>타석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9476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algun Gothic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Malgun Gothic"/>
              </a:rPr>
              <a:t>실외 대형 88타석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383280"/>
            <a:ext cx="2560320" cy="1280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383280"/>
            <a:ext cx="73152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35478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Malgun Gothic"/>
              </a:rPr>
              <a:t>투자금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79476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algun Gothic"/>
              </a:rPr>
              <a:t>17억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429768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Malgun Gothic"/>
              </a:rPr>
              <a:t>자가소유 부지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383280"/>
            <a:ext cx="2560320" cy="1280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383280"/>
            <a:ext cx="73152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5478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Malgun Gothic"/>
              </a:rPr>
              <a:t>재오픈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79476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algun Gothic"/>
              </a:rPr>
              <a:t>2026.06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9768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Malgun Gothic"/>
              </a:rPr>
              <a:t>5년 운영 중단 후 재가동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3383280"/>
            <a:ext cx="2560320" cy="1280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3383280"/>
            <a:ext cx="73152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35478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Malgun Gothic"/>
              </a:rPr>
              <a:t>WACC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79476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algun Gothic"/>
              </a:rPr>
              <a:t>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4297680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Malgun Gothic"/>
              </a:rPr>
              <a:t>재오픈·자가소유 기준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26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Malgun Gothic"/>
              </a:rPr>
              <a:t>작성일: 2026년 5월 · 작성: 신진(SJ) 경영기획팀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4095" y="612648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1">
                <a:solidFill>
                  <a:srgbClr val="FBBF24"/>
                </a:solidFill>
                <a:latin typeface="Malgun Gothic"/>
              </a:rPr>
              <a:t>CONFIDENTIAL · 대외비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365760" cy="365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141B44"/>
                </a:solidFill>
                <a:latin typeface="Malgun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4592"/>
            <a:ext cx="10058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사업 개요 및 핵심 가정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02920"/>
            <a:ext cx="10058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Malgun Gothic"/>
              </a:rPr>
              <a:t>재무 전망의 근거가 되는 5대 가정 — 매출·비용·자본구조·시장·자산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Malgun Gothic"/>
              </a:rPr>
              <a:t>■  사업 개요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63040"/>
          <a:ext cx="5760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297680"/>
              </a:tblGrid>
              <a:tr h="3352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352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소재지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서울 강서구 등촌동 (자가소유 부지)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시설 규모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88타석 실외 + 사우나·헬스·락카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오픈 일자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2026년 6월 (9개월 운영) / 2027년 정상가동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투자 규모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17억원 (시설·장비·인테리어·운영자금 포함)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감가상각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5년 내용연수 (정액 2,000만 + 정률 6.36억 첫해)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65760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Malgun Gothic"/>
              </a:rPr>
              <a:t>■  회원수 회복률 (2018 등촌 실적 대비)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069080"/>
          <a:ext cx="5760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777240"/>
                <a:gridCol w="731520"/>
                <a:gridCol w="777240"/>
                <a:gridCol w="777240"/>
                <a:gridCol w="777240"/>
                <a:gridCol w="1005840"/>
              </a:tblGrid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연도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2026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2027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2028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2029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2030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2031~35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회복률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60%×9/12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매년 -3%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근거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오픈 9개월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시장조사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Excel Base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Excel Base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Excel Base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시장 자연 축소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0" y="105156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Malgun Gothic"/>
              </a:rPr>
              <a:t>■  가격 정책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1463040"/>
          <a:ext cx="5760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920240"/>
                <a:gridCol w="2834640"/>
              </a:tblGrid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연도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가격 기준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사이드바 입력가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오픈 첫해, 제니스 대비 저렴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2027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사이드바 입력가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동결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2028~31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제니스 동일가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시장가 따라잡기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2032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제니스 ×1.05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+5% 인상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2033~34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동결 (×1.05)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인상 효과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1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2035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제니스 ×1.1025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+5% 추가 인상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0" y="384048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Malgun Gothic"/>
              </a:rPr>
              <a:t>■  자본 구조 · 시장 가정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0" y="4251960"/>
          <a:ext cx="57607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114800"/>
              </a:tblGrid>
              <a:tr h="2590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값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2590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자본 조달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100% 자기자본 (차입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WACC (할인율)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8% — 무위험 3% + 사업리스크 3% + 유동성 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590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법인세율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22% (적자 시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보정계수 (2026)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이탈×환불×상권×경제×시즌 = 약 0.60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590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보정계수 (2027~)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이탈×환불×상권×경제 = 약 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Malgun Gothic"/>
              </a:rPr>
              <a:t>등촌골프연습장 사업성 분석 · 경영진 보고용 · 신진(SJ)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CADCFC"/>
                </a:solidFill>
                <a:latin typeface="Malgun Gothic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365760" cy="365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141B44"/>
                </a:solidFill>
                <a:latin typeface="Malgun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4592"/>
            <a:ext cx="10058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5개년 손익 전망 (2026~2030)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02920"/>
            <a:ext cx="10058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Malgun Gothic"/>
              </a:rPr>
              <a:t>한국 회계기준 손익계산서 · 임대료수익은 영업외수익으로 분리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26974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8872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Malgun Gothic"/>
              </a:rPr>
              <a:t>5년 NPV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35608"/>
            <a:ext cx="2423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Malgun Gothic"/>
              </a:rPr>
              <a:t>+0.5억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38528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Malgun Gothic"/>
              </a:rPr>
              <a:t>WACC 8% 기준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051560"/>
            <a:ext cx="26974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051560"/>
            <a:ext cx="73152" cy="1188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18872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Malgun Gothic"/>
              </a:rPr>
              <a:t>5년 IRR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435608"/>
            <a:ext cx="2423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Malgun Gothic"/>
              </a:rPr>
              <a:t>8.9%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938528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Malgun Gothic"/>
              </a:rPr>
              <a:t>WACC 8% 소폭 상회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51560"/>
            <a:ext cx="26974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05156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18872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Malgun Gothic"/>
              </a:rPr>
              <a:t>Payback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435608"/>
            <a:ext cx="2423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Malgun Gothic"/>
              </a:rPr>
              <a:t>3.5년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938528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Malgun Gothic"/>
              </a:rPr>
              <a:t>5년 내 회수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051560"/>
            <a:ext cx="26974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1051560"/>
            <a:ext cx="73152" cy="1188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18872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Malgun Gothic"/>
              </a:rPr>
              <a:t>5년 누적 EBITDA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1435608"/>
            <a:ext cx="2423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Malgun Gothic"/>
              </a:rPr>
              <a:t>28.3억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1938528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Malgun Gothic"/>
              </a:rPr>
              <a:t>투자금 17억의 166%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468880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Malgun Gothic"/>
              </a:rPr>
              <a:t>■  5개년 추정 손익계산서 (단위: 억)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57200" y="2834640"/>
          <a:ext cx="7772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243584"/>
                <a:gridCol w="1243584"/>
                <a:gridCol w="1243584"/>
                <a:gridCol w="1243584"/>
                <a:gridCol w="1243584"/>
              </a:tblGrid>
              <a:tr h="3556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2026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2027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2028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2029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2030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556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Malgun Gothic"/>
                        </a:rPr>
                        <a:t>매출(영업)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10.79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24.85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26.82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27.45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27.45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Malgun Gothic"/>
                        </a:rPr>
                        <a:t>영업비용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21.43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24.84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24.13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24.04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24.33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56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Malgun Gothic"/>
                        </a:rPr>
                        <a:t>영업이익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-10.64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2.69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3.41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3.11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Malgun Gothic"/>
                        </a:rPr>
                        <a:t>영업외수익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1.23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3.19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3.19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3.19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3.19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56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Malgun Gothic"/>
                        </a:rPr>
                        <a:t>경상이익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-9.41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3.20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5.88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6.60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6.30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Malgun Gothic"/>
                        </a:rPr>
                        <a:t>당기순이익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-9.41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2.50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4.58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5.15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4.92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56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Malgun Gothic"/>
                        </a:rPr>
                        <a:t>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-2.8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Malgun Gothic"/>
                        </a:rPr>
                        <a:t>누적 FCF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-2.8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3.7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10.7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17.5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23.4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8412480" y="2468880"/>
            <a:ext cx="3474720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2468880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41B44"/>
                </a:solidFill>
                <a:latin typeface="Malgun Gothic"/>
              </a:rPr>
              <a:t>🏆  출구전략 시나리오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2852928"/>
            <a:ext cx="34747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3017520"/>
            <a:ext cx="3108960" cy="2971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E2761"/>
                </a:solidFill>
                <a:latin typeface="Malgun Gothic"/>
              </a:rPr>
              <a:t>2030년말 매각 가정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E68"/>
                </a:solidFill>
                <a:latin typeface="Malgun Gothic"/>
              </a:rPr>
              <a:t>매각가:  </a:t>
            </a:r>
            <a:r>
              <a:rPr sz="1100" b="1" i="0">
                <a:solidFill>
                  <a:srgbClr val="1E2761"/>
                </a:solidFill>
                <a:latin typeface="Malgun Gothic"/>
              </a:rPr>
              <a:t>3,000억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E68"/>
                </a:solidFill>
                <a:latin typeface="Malgun Gothic"/>
              </a:rPr>
              <a:t>할인 기간:  5년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E68"/>
                </a:solidFill>
                <a:latin typeface="Malgun Gothic"/>
              </a:rPr>
              <a:t>WACC:  8% (할인계수 0.6806)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334E68"/>
                </a:solidFill>
                <a:latin typeface="Malgun Gothic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Malgun Gothic"/>
              </a:rPr>
              <a:t>매각가 PV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E68"/>
                </a:solidFill>
                <a:latin typeface="Malgun Gothic"/>
              </a:rPr>
              <a:t>= 3,000억 × 0.6806 = </a:t>
            </a:r>
            <a:r>
              <a:rPr sz="1100" b="1" i="0">
                <a:solidFill>
                  <a:srgbClr val="1E2761"/>
                </a:solidFill>
                <a:latin typeface="Malgun Gothic"/>
              </a:rPr>
              <a:t>2,041.7억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334E68"/>
                </a:solidFill>
                <a:latin typeface="Malgun Gothic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E68"/>
                </a:solidFill>
                <a:latin typeface="Malgun Gothic"/>
              </a:rPr>
              <a:t>기본 NPV: </a:t>
            </a:r>
            <a:r>
              <a:rPr sz="1100" b="1" i="0">
                <a:solidFill>
                  <a:srgbClr val="16A34A"/>
                </a:solidFill>
                <a:latin typeface="Malgun Gothic"/>
              </a:rPr>
              <a:t>+0.55억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334E68"/>
                </a:solidFill>
                <a:latin typeface="Malgun Gothic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E2761"/>
                </a:solidFill>
                <a:latin typeface="Malgun Gothic"/>
              </a:rPr>
              <a:t>매각 반영 NPV</a:t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BBF24"/>
                </a:solidFill>
                <a:latin typeface="Malgun Gothic"/>
              </a:rPr>
              <a:t>2,042.3억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Malgun Gothic"/>
              </a:rPr>
              <a:t>등촌골프연습장 사업성 분석 · 경영진 보고용 · 신진(SJ)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CADCFC"/>
                </a:solidFill>
                <a:latin typeface="Malgun Gothic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365760" cy="365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141B44"/>
                </a:solidFill>
                <a:latin typeface="Malgun Gothi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4592"/>
            <a:ext cx="10058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10개년 확장 전망 (2026~2035)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02920"/>
            <a:ext cx="10058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Malgun Gothic"/>
              </a:rPr>
              <a:t>2031~ 회원 -3%/년 감소 · 2032·2035 요금 +5% 인상 · CAPEX 2.5억(2033)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26974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8872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Malgun Gothic"/>
              </a:rPr>
              <a:t>10년 NPV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35608"/>
            <a:ext cx="2423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Malgun Gothic"/>
              </a:rPr>
              <a:t>+8.3억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38528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Malgun Gothic"/>
              </a:rPr>
              <a:t>WACC 8% 기준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051560"/>
            <a:ext cx="26974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05156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18872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Malgun Gothic"/>
              </a:rPr>
              <a:t>10년 IRR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435608"/>
            <a:ext cx="2423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Malgun Gothic"/>
              </a:rPr>
              <a:t>17.6%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938528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Malgun Gothic"/>
              </a:rPr>
              <a:t>5년 IRR 8.9% 대비 향상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51560"/>
            <a:ext cx="26974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05156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18872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Malgun Gothic"/>
              </a:rPr>
              <a:t>Payback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435608"/>
            <a:ext cx="2423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Malgun Gothic"/>
              </a:rPr>
              <a:t>3.5년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938528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Malgun Gothic"/>
              </a:rPr>
              <a:t>동일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051560"/>
            <a:ext cx="26974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1051560"/>
            <a:ext cx="73152" cy="1188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18872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Malgun Gothic"/>
              </a:rPr>
              <a:t>10년 누적 FCF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1435608"/>
            <a:ext cx="2423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Malgun Gothic"/>
              </a:rPr>
              <a:t>34.4억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1938528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Malgun Gothic"/>
              </a:rPr>
              <a:t>CAPEX 2.5억 반영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468880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Malgun Gothic"/>
              </a:rPr>
              <a:t>■  10개년 매출·EBITDA·FCF 추이 (단위: 억)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57200" y="2834640"/>
          <a:ext cx="7772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699516"/>
                <a:gridCol w="699516"/>
                <a:gridCol w="699516"/>
                <a:gridCol w="699516"/>
                <a:gridCol w="699516"/>
                <a:gridCol w="699516"/>
                <a:gridCol w="699516"/>
                <a:gridCol w="699516"/>
                <a:gridCol w="699516"/>
                <a:gridCol w="699516"/>
              </a:tblGrid>
              <a:tr h="3657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연도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2026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2027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2028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2029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2030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2031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2032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2033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2034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2035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34E68"/>
                          </a:solidFill>
                          <a:latin typeface="Malgun Gothic"/>
                        </a:rPr>
                        <a:t>매출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30.0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30.6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30.6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30.3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34E68"/>
                          </a:solidFill>
                          <a:latin typeface="Malgun Gothic"/>
                        </a:rPr>
                        <a:t>비용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21.4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24.8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24.1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24.0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24.3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24.2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25.1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26.0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27.0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28.1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34E68"/>
                          </a:solidFill>
                          <a:latin typeface="Malgun Gothic"/>
                        </a:rPr>
                        <a:t>영업이익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-9.4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34E68"/>
                          </a:solidFill>
                          <a:latin typeface="Malgun Gothic"/>
                        </a:rPr>
                        <a:t>EBITDA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-2.8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7.2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8.4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8.2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7.3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5.6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5.2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3.5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1.7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1.2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34E68"/>
                          </a:solidFill>
                          <a:latin typeface="Malgun Gothic"/>
                        </a:rPr>
                        <a:t>CAPEX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34E68"/>
                          </a:solidFill>
                          <a:latin typeface="Malgun Gothic"/>
                        </a:rPr>
                        <a:t>누적 FCF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-2.8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3.7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10.7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17.5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23.4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27.8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31.9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32.1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33.5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Malgun Gothic"/>
                        </a:rPr>
                        <a:t>34.4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8412480" y="2468880"/>
            <a:ext cx="3474720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2468880"/>
            <a:ext cx="32004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41B44"/>
                </a:solidFill>
                <a:latin typeface="Malgun Gothic"/>
              </a:rPr>
              <a:t>🏆  출구전략 시나리오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2852928"/>
            <a:ext cx="347472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3017520"/>
            <a:ext cx="3108960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E2761"/>
                </a:solidFill>
                <a:latin typeface="Malgun Gothic"/>
              </a:rPr>
              <a:t>2035년말 매각 가정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E68"/>
                </a:solidFill>
                <a:latin typeface="Malgun Gothic"/>
              </a:rPr>
              <a:t>매각가:  </a:t>
            </a:r>
            <a:r>
              <a:rPr sz="1100" b="1" i="0">
                <a:solidFill>
                  <a:srgbClr val="1E2761"/>
                </a:solidFill>
                <a:latin typeface="Malgun Gothic"/>
              </a:rPr>
              <a:t>3,500억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E68"/>
                </a:solidFill>
                <a:latin typeface="Malgun Gothic"/>
              </a:rPr>
              <a:t>할인 기간:  10년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E68"/>
                </a:solidFill>
                <a:latin typeface="Malgun Gothic"/>
              </a:rPr>
              <a:t>WACC:  8% (할인계수 0.4632)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334E68"/>
                </a:solidFill>
                <a:latin typeface="Malgun Gothic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E68"/>
                </a:solidFill>
                <a:latin typeface="Malgun Gothic"/>
              </a:rPr>
              <a:t>매각가 PV = </a:t>
            </a:r>
            <a:r>
              <a:rPr sz="1100" b="1" i="0">
                <a:solidFill>
                  <a:srgbClr val="1E2761"/>
                </a:solidFill>
                <a:latin typeface="Malgun Gothic"/>
              </a:rPr>
              <a:t>1,621.2억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E68"/>
                </a:solidFill>
                <a:latin typeface="Malgun Gothic"/>
              </a:rPr>
              <a:t>기본 10년 NPV: </a:t>
            </a:r>
            <a:r>
              <a:rPr sz="1100" b="1" i="0">
                <a:solidFill>
                  <a:srgbClr val="16A34A"/>
                </a:solidFill>
                <a:latin typeface="Malgun Gothic"/>
              </a:rPr>
              <a:t>+8.27억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334E68"/>
                </a:solidFill>
                <a:latin typeface="Malgun Gothic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E2761"/>
                </a:solidFill>
                <a:latin typeface="Malgun Gothic"/>
              </a:rPr>
              <a:t>매각 반영 NPV</a:t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BBF24"/>
                </a:solidFill>
                <a:latin typeface="Malgun Gothic"/>
              </a:rPr>
              <a:t>1,629.4억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6692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BBF24"/>
                </a:solidFill>
                <a:latin typeface="Malgun Gothic"/>
              </a:rPr>
              <a:t>📦  CAPEX 2.5억 (2033년)  </a:t>
            </a:r>
            <a:r>
              <a:rPr sz="1100" b="0" i="0">
                <a:solidFill>
                  <a:srgbClr val="FFFFFF"/>
                </a:solidFill>
                <a:latin typeface="Malgun Gothic"/>
              </a:rPr>
              <a:t>— 실외 시설 노후 주기 7~10년 → 8년차 권장. 구성: 철골 프레임 보수·도장 1.5억 + 그물망 전면 교체 1.0억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Malgun Gothic"/>
              </a:rPr>
              <a:t>등촌골프연습장 사업성 분석 · 경영진 보고용 · 신진(SJ)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CADCFC"/>
                </a:solidFill>
                <a:latin typeface="Malgun Gothic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FBBF24"/>
                </a:solidFill>
                <a:latin typeface="Malgun Gothi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6576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결론 및 권고사항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77724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Malgun Gothic"/>
              </a:rPr>
              <a:t>5년 vs 10년 시나리오 비교 + 출구전략 분석을 통한 투자 판단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Malgun Gothic"/>
              </a:rPr>
              <a:t>■  시나리오 비교 (단위: 억 / %)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37360"/>
          <a:ext cx="7315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시나리오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5년 운영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10년 운영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5년+매각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10년+매각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Malgun Gothic"/>
                        </a:rPr>
                        <a:t>기본 NPV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+0.55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+8.27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+0.55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+8.27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Malgun Gothic"/>
                        </a:rPr>
                        <a:t>매각가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3,000억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3,500억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Malgun Gothic"/>
                        </a:rPr>
                        <a:t>매각 PV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2,041.7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1,621.2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Malgun Gothic"/>
                        </a:rPr>
                        <a:t>최종 NPV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+0.55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+8.27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2,042.3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1,629.4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Malgun Gothic"/>
                        </a:rPr>
                        <a:t>IRR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17.6%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—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—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Malgun Gothic"/>
                        </a:rPr>
                        <a:t>Payback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3.5년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3.5년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3.5년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3.5년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Malgun Gothic"/>
                        </a:rPr>
                        <a:t>투자 적합성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적합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적합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매우 적합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Malgun Gothic"/>
                        </a:rPr>
                        <a:t>매우 적합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138160" y="1371600"/>
            <a:ext cx="3749039" cy="3657600"/>
          </a:xfrm>
          <a:prstGeom prst="rect">
            <a:avLst/>
          </a:prstGeom>
          <a:solidFill>
            <a:srgbClr val="1E2761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60" y="1371600"/>
            <a:ext cx="3749039" cy="4114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71600"/>
            <a:ext cx="3383279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41B44"/>
                </a:solidFill>
                <a:latin typeface="Malgun Gothic"/>
              </a:rPr>
              <a:t>💡  경영진 권고사항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920240"/>
            <a:ext cx="3291839" cy="3017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BBF24"/>
                </a:solidFill>
                <a:latin typeface="Malgun Gothic"/>
              </a:rPr>
              <a:t>1.  </a:t>
            </a:r>
            <a:r>
              <a:rPr sz="1200" b="1" i="0">
                <a:solidFill>
                  <a:srgbClr val="FFFFFF"/>
                </a:solidFill>
                <a:latin typeface="Malgun Gothic"/>
              </a:rPr>
              <a:t>투자 적합 판정 — </a:t>
            </a:r>
            <a:r>
              <a:rPr sz="1100" b="0" i="0">
                <a:solidFill>
                  <a:srgbClr val="CADCFC"/>
                </a:solidFill>
                <a:latin typeface="Malgun Gothic"/>
              </a:rPr>
              <a:t>NPV 양수(+0.5억/+8.3억), IRR 8.9%(5년)·17.6%(10년) 모두 WACC 8% 상회.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334E68"/>
                </a:solidFill>
                <a:latin typeface="Malgun Gothic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BBF24"/>
                </a:solidFill>
                <a:latin typeface="Malgun Gothic"/>
              </a:rPr>
              <a:t>2.  </a:t>
            </a:r>
            <a:r>
              <a:rPr sz="1200" b="1" i="0">
                <a:solidFill>
                  <a:srgbClr val="FFFFFF"/>
                </a:solidFill>
                <a:latin typeface="Malgun Gothic"/>
              </a:rPr>
              <a:t>5년 매각 시나리오 우위 — </a:t>
            </a:r>
            <a:r>
              <a:rPr sz="1100" b="0" i="0">
                <a:solidFill>
                  <a:srgbClr val="CADCFC"/>
                </a:solidFill>
                <a:latin typeface="Malgun Gothic"/>
              </a:rPr>
              <a:t>시간가치 효과로 5년차 매각이 10년차 대비 PV +420억 유리.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334E68"/>
                </a:solidFill>
                <a:latin typeface="Malgun Gothic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BBF24"/>
                </a:solidFill>
                <a:latin typeface="Malgun Gothic"/>
              </a:rPr>
              <a:t>3.  </a:t>
            </a:r>
            <a:r>
              <a:rPr sz="1200" b="1" i="0">
                <a:solidFill>
                  <a:srgbClr val="FFFFFF"/>
                </a:solidFill>
                <a:latin typeface="Malgun Gothic"/>
              </a:rPr>
              <a:t>운영 리스크 — </a:t>
            </a:r>
            <a:r>
              <a:rPr sz="1100" b="0" i="0">
                <a:solidFill>
                  <a:srgbClr val="CADCFC"/>
                </a:solidFill>
                <a:latin typeface="Malgun Gothic"/>
              </a:rPr>
              <a:t>2026년 적자(-9.4억) 1회 발생, 2027부터 흑자 전환. 2031~ 회원 감소·비용 인상 이중 압박으로 영업이익 점진 감소.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334E68"/>
                </a:solidFill>
                <a:latin typeface="Malgun Gothic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BBF24"/>
                </a:solidFill>
                <a:latin typeface="Malgun Gothic"/>
              </a:rPr>
              <a:t>4.  </a:t>
            </a:r>
            <a:r>
              <a:rPr sz="1200" b="1" i="0">
                <a:solidFill>
                  <a:srgbClr val="FFFFFF"/>
                </a:solidFill>
                <a:latin typeface="Malgun Gothic"/>
              </a:rPr>
              <a:t>핵심 액션 — </a:t>
            </a:r>
            <a:r>
              <a:rPr sz="1100" b="0" i="0">
                <a:solidFill>
                  <a:srgbClr val="CADCFC"/>
                </a:solidFill>
                <a:latin typeface="Malgun Gothic"/>
              </a:rPr>
              <a:t>오픈 첫해 운전자금 5억 별도 확보, 2032 가격 인상 시점 정확한 시장 모니터링, 2033 CAPEX 2.5억 사전 적립.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212080"/>
            <a:ext cx="11247120" cy="1188720"/>
          </a:xfrm>
          <a:prstGeom prst="rect">
            <a:avLst/>
          </a:prstGeom>
          <a:solidFill>
            <a:srgbClr val="1E2761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212080"/>
            <a:ext cx="137160" cy="1188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49240"/>
            <a:ext cx="109728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BBF24"/>
                </a:solidFill>
                <a:latin typeface="Malgun Gothic"/>
              </a:rPr>
              <a:t>최종 결론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Malgun Gothic"/>
              </a:rPr>
              <a:t>본 사업은 </a:t>
            </a:r>
            <a:r>
              <a:rPr sz="1400" b="1" i="0">
                <a:solidFill>
                  <a:srgbClr val="FBBF24"/>
                </a:solidFill>
                <a:latin typeface="Malgun Gothic"/>
              </a:rPr>
              <a:t>5년 운영 시 NPV +0.55억 / IRR 8.9%</a:t>
            </a:r>
            <a:r>
              <a:rPr sz="1400" b="0" i="0">
                <a:solidFill>
                  <a:srgbClr val="FFFFFF"/>
                </a:solidFill>
                <a:latin typeface="Malgun Gothic"/>
              </a:rPr>
              <a:t>으로 자본비용(WACC 8%)을 소폭 상회하며, </a:t>
            </a:r>
            <a:r>
              <a:rPr sz="1400" b="1" i="0">
                <a:solidFill>
                  <a:srgbClr val="FBBF24"/>
                </a:solidFill>
                <a:latin typeface="Malgun Gothic"/>
              </a:rPr>
              <a:t>2030년말 3,000억 매각</a:t>
            </a:r>
            <a:r>
              <a:rPr sz="1400" b="0" i="0">
                <a:solidFill>
                  <a:srgbClr val="FFFFFF"/>
                </a:solidFill>
                <a:latin typeface="Malgun Gothic"/>
              </a:rPr>
              <a:t> 시 NPV </a:t>
            </a:r>
            <a:r>
              <a:rPr sz="1400" b="1" i="0">
                <a:solidFill>
                  <a:srgbClr val="FBBF24"/>
                </a:solidFill>
                <a:latin typeface="Malgun Gothic"/>
              </a:rPr>
              <a:t>+2,042억</a:t>
            </a:r>
            <a:r>
              <a:rPr sz="1400" b="0" i="0">
                <a:solidFill>
                  <a:srgbClr val="FFFFFF"/>
                </a:solidFill>
                <a:latin typeface="Malgun Gothic"/>
              </a:rPr>
              <a:t>으로 매우 우수한 투자수익이 확보됨.</a:t>
            </a:r>
          </a:p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CADCFC"/>
                </a:solidFill>
                <a:latin typeface="Malgun Gothic"/>
              </a:rPr>
              <a:t>재오픈 후 5년 안정 운영 → 최적 시점 매각 전략 권장.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Malgun Gothic"/>
              </a:rPr>
              <a:t>등촌골프연습장 사업성 분석 · 경영진 보고용 · 2026.05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CADCFC"/>
                </a:solidFill>
                <a:latin typeface="Malgun Gothic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